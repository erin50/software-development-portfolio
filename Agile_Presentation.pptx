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8D11E-5D8D-44D0-848D-8206D725AC76}" v="88" dt="2026-04-06T17:39:19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8237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64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90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35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49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43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45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82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75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19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35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783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62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617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16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04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11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People at the meeting desk">
            <a:extLst>
              <a:ext uri="{FF2B5EF4-FFF2-40B4-BE49-F238E27FC236}">
                <a16:creationId xmlns:a16="http://schemas.microsoft.com/office/drawing/2014/main" id="{FB6C4CDC-4F81-BDB7-F94B-622E1244E6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95" r="39207" b="-2"/>
          <a:stretch>
            <a:fillRect/>
          </a:stretch>
        </p:blipFill>
        <p:spPr>
          <a:xfrm>
            <a:off x="5039403" y="10"/>
            <a:ext cx="410459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4570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48" y="-172035"/>
            <a:ext cx="5963880" cy="1752599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Scrum-Agile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798" y="1304874"/>
            <a:ext cx="4407447" cy="543389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Clr>
                <a:srgbClr val="1287C3"/>
              </a:buClr>
            </a:pPr>
            <a:r>
              <a:rPr lang="en-US" dirty="0">
                <a:latin typeface="Calibri"/>
                <a:ea typeface="Calibri"/>
                <a:cs typeface="Calibri"/>
              </a:rPr>
              <a:t>Agile is an iterative software development methodology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Focuses on collaboration, flexibility, and customer feedback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Scrum is a framework used to implement Agile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Work is completed in short iterations called sprints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(Schwaber &amp; Sutherland, 2020)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Clr>
                <a:srgbClr val="1287C3"/>
              </a:buClr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>
                <a:solidFill>
                  <a:schemeClr val="accent1">
                    <a:lumMod val="76000"/>
                  </a:schemeClr>
                </a:solidFill>
              </a:rPr>
              <a:t>Agile Roles</a:t>
            </a:r>
            <a:endParaRPr lang="en-US" sz="44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73" y="1719436"/>
            <a:ext cx="8889122" cy="4292225"/>
          </a:xfrm>
        </p:spPr>
        <p:txBody>
          <a:bodyPr/>
          <a:lstStyle/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Product Owner manages backlog and priorities</a:t>
            </a:r>
          </a:p>
          <a:p>
            <a:pPr>
              <a:buClr>
                <a:srgbClr val="1287C3"/>
              </a:buClr>
            </a:pPr>
            <a:r>
              <a:rPr lang="en-US" dirty="0">
                <a:latin typeface="Calibri"/>
                <a:ea typeface="Calibri"/>
                <a:cs typeface="Calibri"/>
              </a:rPr>
              <a:t>Scrum Master facilitates Scrum process and removes blockers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Development Team builds and tests the product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All roles collaborate to deliver working software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(PMI, 2021)</a:t>
            </a:r>
          </a:p>
          <a:p>
            <a:pPr>
              <a:buClr>
                <a:srgbClr val="1287C3"/>
              </a:buClr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>
                <a:solidFill>
                  <a:schemeClr val="accent1">
                    <a:lumMod val="76000"/>
                  </a:schemeClr>
                </a:solidFill>
              </a:rPr>
              <a:t>Agile SDLC Phases</a:t>
            </a:r>
            <a:endParaRPr lang="en-US" sz="44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85260"/>
            <a:ext cx="7704667" cy="4114556"/>
          </a:xfrm>
        </p:spPr>
        <p:txBody>
          <a:bodyPr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Planning: define user stories and sprint goals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Design: plan system features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Development: build the software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Testing: ensure functionality works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Review and Retrospective: evaluate and improve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(Rigby et al., 2020)</a:t>
            </a:r>
          </a:p>
          <a:p>
            <a:pPr>
              <a:buClr>
                <a:srgbClr val="1287C3"/>
              </a:buClr>
            </a:pPr>
            <a:endParaRPr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76000"/>
                  </a:schemeClr>
                </a:solidFill>
              </a:rPr>
              <a:t>Scrum Events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435166"/>
            <a:ext cx="7704667" cy="4564650"/>
          </a:xfrm>
        </p:spPr>
        <p:txBody>
          <a:bodyPr/>
          <a:lstStyle/>
          <a:p>
            <a:r>
              <a:t>Sprint Planning: define sprint work</a:t>
            </a:r>
            <a:endParaRPr lang="en-US"/>
          </a:p>
          <a:p>
            <a:r>
              <a:t>Daily Stand-up: track progress</a:t>
            </a:r>
            <a:endParaRPr dirty="0"/>
          </a:p>
          <a:p>
            <a:r>
              <a:rPr dirty="0"/>
              <a:t>Sprint Review: demonstrate completed work</a:t>
            </a:r>
          </a:p>
          <a:p>
            <a:r>
              <a:t>Sprint Retrospective: discuss improvements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orbel"/>
                <a:ea typeface="Calibri"/>
                <a:cs typeface="Calibri"/>
              </a:rPr>
              <a:t>(Schwaber &amp; Sutherland, 2020)</a:t>
            </a:r>
            <a:endParaRPr lang="en-US">
              <a:latin typeface="Corbel"/>
            </a:endParaRPr>
          </a:p>
          <a:p>
            <a:pPr>
              <a:buClr>
                <a:srgbClr val="1287C3"/>
              </a:buClr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76000"/>
                  </a:schemeClr>
                </a:solidFill>
              </a:rPr>
              <a:t>Waterfall Model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447011"/>
            <a:ext cx="7704667" cy="5393768"/>
          </a:xfrm>
        </p:spPr>
        <p:txBody>
          <a:bodyPr/>
          <a:lstStyle/>
          <a:p>
            <a:r>
              <a:t>Linear development process</a:t>
            </a:r>
          </a:p>
          <a:p>
            <a:r>
              <a:t>Requirements defined at the beginning</a:t>
            </a:r>
          </a:p>
          <a:p>
            <a:r>
              <a:t>Each phase completed before next phase</a:t>
            </a:r>
          </a:p>
          <a:p>
            <a:r>
              <a:t>Difficult to change requirements later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76000"/>
                  </a:schemeClr>
                </a:solidFill>
              </a:rPr>
              <a:t>Agile vs Waterfall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19436"/>
            <a:ext cx="7704667" cy="4280380"/>
          </a:xfrm>
        </p:spPr>
        <p:txBody>
          <a:bodyPr/>
          <a:lstStyle/>
          <a:p>
            <a:r>
              <a:t>Agile is flexible and iterative</a:t>
            </a:r>
          </a:p>
          <a:p>
            <a:r>
              <a:t>Waterfall is structured and sequential</a:t>
            </a:r>
          </a:p>
          <a:p>
            <a:r>
              <a:t>Agile allows continuous feedback</a:t>
            </a:r>
          </a:p>
          <a:p>
            <a:r>
              <a:t>Waterfall works best for stable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76000"/>
                  </a:schemeClr>
                </a:solidFill>
              </a:rPr>
              <a:t>Choosing Agile or Waterfall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447011"/>
            <a:ext cx="7704667" cy="4552805"/>
          </a:xfrm>
        </p:spPr>
        <p:txBody>
          <a:bodyPr/>
          <a:lstStyle/>
          <a:p>
            <a:r>
              <a:t>Project size</a:t>
            </a:r>
          </a:p>
          <a:p>
            <a:r>
              <a:t>Requirement stability</a:t>
            </a:r>
          </a:p>
          <a:p>
            <a:r>
              <a:t>Customer involvement</a:t>
            </a:r>
          </a:p>
          <a:p>
            <a:r>
              <a:t>Timeline flexibility</a:t>
            </a:r>
          </a:p>
          <a:p>
            <a:r>
              <a:t>Risk management considerations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1">
                    <a:lumMod val="76000"/>
                  </a:schemeClr>
                </a:solidFill>
              </a:rPr>
              <a:t>References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31280"/>
            <a:ext cx="7704667" cy="4268536"/>
          </a:xfrm>
        </p:spPr>
        <p:txBody>
          <a:bodyPr/>
          <a:lstStyle/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Project Management Institute. (2021). Agile Practice Guide.</a:t>
            </a: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Rigby, Sutherland, &amp; Takeuchi. (2020). Embracing Agile.</a:t>
            </a:r>
            <a:endParaRPr>
              <a:latin typeface="Calibri"/>
              <a:ea typeface="Calibri"/>
              <a:cs typeface="Calibri"/>
            </a:endParaRPr>
          </a:p>
          <a:p>
            <a:pPr>
              <a:buClr>
                <a:srgbClr val="1287C3"/>
              </a:buClr>
            </a:pPr>
            <a:r>
              <a:rPr lang="en-US">
                <a:latin typeface="Calibri"/>
                <a:ea typeface="Calibri"/>
                <a:cs typeface="Calibri"/>
              </a:rPr>
              <a:t>Schwaber &amp; Sutherland. (2020). The Scrum Guide.</a:t>
            </a:r>
          </a:p>
          <a:p>
            <a:pPr>
              <a:buClr>
                <a:srgbClr val="1287C3"/>
              </a:buClr>
            </a:pPr>
            <a:endParaRPr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Parallax</vt:lpstr>
      <vt:lpstr>Scrum-Agile Overview</vt:lpstr>
      <vt:lpstr>Agile Roles</vt:lpstr>
      <vt:lpstr>Agile SDLC Phases</vt:lpstr>
      <vt:lpstr>Scrum Events</vt:lpstr>
      <vt:lpstr>Waterfall Model</vt:lpstr>
      <vt:lpstr>Agile vs Waterfall</vt:lpstr>
      <vt:lpstr>Choosing Agile or Waterfall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56</cp:revision>
  <dcterms:created xsi:type="dcterms:W3CDTF">2013-01-27T09:14:16Z</dcterms:created>
  <dcterms:modified xsi:type="dcterms:W3CDTF">2026-04-06T17:39:31Z</dcterms:modified>
  <cp:category/>
</cp:coreProperties>
</file>